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5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12000"/>
          </a:blip>
          <a:stretch>
            <a:fillRect/>
          </a:stretch>
        </p:blipFill>
        <p:spPr>
          <a:xfrm>
            <a:off x="8869680" y="-548640"/>
            <a:ext cx="4206240" cy="420624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822960" y="1042416"/>
            <a:ext cx="310896" cy="20117"/>
          </a:xfrm>
          <a:prstGeom prst="rect">
            <a:avLst/>
          </a:prstGeom>
          <a:solidFill>
            <a:srgbClr val="E0463E"/>
          </a:solidFill>
          <a:ln/>
        </p:spPr>
      </p:sp>
      <p:sp>
        <p:nvSpPr>
          <p:cNvPr id="4" name="Text 1"/>
          <p:cNvSpPr/>
          <p:nvPr/>
        </p:nvSpPr>
        <p:spPr>
          <a:xfrm>
            <a:off x="1234440" y="8961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046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MODULE 02 · SECURITY AWARENESS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777240" y="1371600"/>
            <a:ext cx="100584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7400"/>
              </a:lnSpc>
              <a:buNone/>
            </a:pPr>
            <a:r>
              <a:rPr lang="en-US" sz="8400" b="1" dirty="0">
                <a:solidFill>
                  <a:srgbClr val="EE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take</a:t>
            </a:r>
            <a:endParaRPr lang="en-US" sz="8400" dirty="0"/>
          </a:p>
          <a:p>
            <a:pPr indent="0" marL="0">
              <a:lnSpc>
                <a:spcPts val="7400"/>
              </a:lnSpc>
              <a:buNone/>
            </a:pPr>
            <a:r>
              <a:rPr lang="en-US" sz="8400" b="1" dirty="0">
                <a:solidFill>
                  <a:srgbClr val="EE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</a:t>
            </a:r>
            <a:pPr indent="0" marL="0">
              <a:lnSpc>
                <a:spcPts val="7400"/>
              </a:lnSpc>
              <a:buNone/>
            </a:pPr>
            <a:r>
              <a:rPr lang="en-US" sz="8400" b="1" dirty="0">
                <a:solidFill>
                  <a:srgbClr val="E04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bait.</a:t>
            </a:r>
            <a:endParaRPr lang="en-US" sz="8400" dirty="0"/>
          </a:p>
        </p:txBody>
      </p:sp>
      <p:sp>
        <p:nvSpPr>
          <p:cNvPr id="6" name="Text 3"/>
          <p:cNvSpPr/>
          <p:nvPr/>
        </p:nvSpPr>
        <p:spPr>
          <a:xfrm>
            <a:off x="822960" y="3977640"/>
            <a:ext cx="7680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500"/>
              </a:lnSpc>
              <a:buNone/>
            </a:pPr>
            <a:r>
              <a:rPr lang="en-US" sz="1700" dirty="0">
                <a:solidFill>
                  <a:srgbClr val="95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is the front door to most cyberattacks — it doesn't break in, it asks to be let in. This module trains your eye to spot the hook before you click.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822960" y="525780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~90%</a:t>
            </a:r>
            <a:endParaRPr lang="en-US" sz="3800" dirty="0"/>
          </a:p>
        </p:txBody>
      </p:sp>
      <p:sp>
        <p:nvSpPr>
          <p:cNvPr id="8" name="Text 5"/>
          <p:cNvSpPr/>
          <p:nvPr/>
        </p:nvSpPr>
        <p:spPr>
          <a:xfrm>
            <a:off x="822960" y="589788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95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breaches start with a phishing email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4434840" y="525780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1 min</a:t>
            </a:r>
            <a:endParaRPr lang="en-US" sz="3800" dirty="0"/>
          </a:p>
        </p:txBody>
      </p:sp>
      <p:sp>
        <p:nvSpPr>
          <p:cNvPr id="10" name="Text 7"/>
          <p:cNvSpPr/>
          <p:nvPr/>
        </p:nvSpPr>
        <p:spPr>
          <a:xfrm>
            <a:off x="4434840" y="589788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95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time to the first click on a link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8046720" y="525780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</a:t>
            </a:r>
            <a:endParaRPr lang="en-US" sz="3800" dirty="0"/>
          </a:p>
        </p:txBody>
      </p:sp>
      <p:sp>
        <p:nvSpPr>
          <p:cNvPr id="12" name="Text 9"/>
          <p:cNvSpPr/>
          <p:nvPr/>
        </p:nvSpPr>
        <p:spPr>
          <a:xfrm>
            <a:off x="8046720" y="589788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95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to an attacker to send 10,000 emails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822960" y="64465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A77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training figures — cite a current source (e.g. Verizon DBIR) for formal use.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30936"/>
            <a:ext cx="310896" cy="20117"/>
          </a:xfrm>
          <a:prstGeom prst="rect">
            <a:avLst/>
          </a:prstGeom>
          <a:solidFill>
            <a:srgbClr val="E0463E"/>
          </a:solidFill>
          <a:ln/>
        </p:spPr>
      </p:sp>
      <p:sp>
        <p:nvSpPr>
          <p:cNvPr id="3" name="Text 1"/>
          <p:cNvSpPr/>
          <p:nvPr/>
        </p:nvSpPr>
        <p:spPr>
          <a:xfrm>
            <a:off x="1051560" y="4846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046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BASICS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84124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phishing actually is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463040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5C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social-engineering attack where a criminal impersonates someone you trust — a bank, a colleague, a brand — to trick you into handing over credentials, money, or access. It targets people, not firewalls. That's why awareness is your strongest defense.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2542032"/>
            <a:ext cx="3584448" cy="1627632"/>
          </a:xfrm>
          <a:prstGeom prst="roundRect">
            <a:avLst>
              <a:gd name="adj" fmla="val 5056"/>
            </a:avLst>
          </a:prstGeom>
          <a:solidFill>
            <a:srgbClr val="F3F5FA"/>
          </a:solidFill>
          <a:ln w="12700">
            <a:solidFill>
              <a:srgbClr val="E2E7F0"/>
            </a:solidFill>
            <a:prstDash val="solid"/>
          </a:ln>
          <a:effectLst>
            <a:outerShdw sx="100000" sy="100000" kx="0" ky="0" algn="bl" rotWithShape="0" blurRad="88900" dist="38100" dir="5400000">
              <a:srgbClr val="9AA3B5">
                <a:alpha val="2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96112" y="2798064"/>
            <a:ext cx="658368" cy="658368"/>
          </a:xfrm>
          <a:prstGeom prst="ellipse">
            <a:avLst/>
          </a:prstGeom>
          <a:solidFill>
            <a:srgbClr val="FBE9E8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455" y="2982407"/>
            <a:ext cx="289682" cy="28968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691640" y="2816352"/>
            <a:ext cx="2395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Bulk phishing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896112" y="3474720"/>
            <a:ext cx="30723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5C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mass emails blasted to thousands, hoping a few people bite.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471416" y="2542032"/>
            <a:ext cx="3584448" cy="1627632"/>
          </a:xfrm>
          <a:prstGeom prst="roundRect">
            <a:avLst>
              <a:gd name="adj" fmla="val 5056"/>
            </a:avLst>
          </a:prstGeom>
          <a:solidFill>
            <a:srgbClr val="F3F5FA"/>
          </a:solidFill>
          <a:ln w="12700">
            <a:solidFill>
              <a:srgbClr val="E2E7F0"/>
            </a:solidFill>
            <a:prstDash val="solid"/>
          </a:ln>
          <a:effectLst>
            <a:outerShdw sx="100000" sy="100000" kx="0" ky="0" algn="bl" rotWithShape="0" blurRad="88900" dist="38100" dir="5400000">
              <a:srgbClr val="9AA3B5">
                <a:alpha val="2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727448" y="2798064"/>
            <a:ext cx="658368" cy="658368"/>
          </a:xfrm>
          <a:prstGeom prst="ellipse">
            <a:avLst/>
          </a:prstGeom>
          <a:solidFill>
            <a:srgbClr val="FBE9E8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1791" y="2982407"/>
            <a:ext cx="289682" cy="28968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522976" y="2816352"/>
            <a:ext cx="2395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Spear phishing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4727448" y="3474720"/>
            <a:ext cx="30723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5C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Tailored to you, using real details — your name, role, projects — to feel legitimate.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8302752" y="2542032"/>
            <a:ext cx="3584448" cy="1627632"/>
          </a:xfrm>
          <a:prstGeom prst="roundRect">
            <a:avLst>
              <a:gd name="adj" fmla="val 5056"/>
            </a:avLst>
          </a:prstGeom>
          <a:solidFill>
            <a:srgbClr val="F3F5FA"/>
          </a:solidFill>
          <a:ln w="12700">
            <a:solidFill>
              <a:srgbClr val="E2E7F0"/>
            </a:solidFill>
            <a:prstDash val="solid"/>
          </a:ln>
          <a:effectLst>
            <a:outerShdw sx="100000" sy="100000" kx="0" ky="0" algn="bl" rotWithShape="0" blurRad="88900" dist="38100" dir="5400000">
              <a:srgbClr val="9AA3B5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558784" y="2798064"/>
            <a:ext cx="658368" cy="658368"/>
          </a:xfrm>
          <a:prstGeom prst="ellipse">
            <a:avLst/>
          </a:prstGeom>
          <a:solidFill>
            <a:srgbClr val="FBE9E8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43127" y="2982407"/>
            <a:ext cx="289682" cy="28968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9354312" y="2816352"/>
            <a:ext cx="2395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Whaling / BEC</a:t>
            </a:r>
            <a:endParaRPr lang="en-US" sz="1600" dirty="0"/>
          </a:p>
        </p:txBody>
      </p:sp>
      <p:sp>
        <p:nvSpPr>
          <p:cNvPr id="20" name="Text 15"/>
          <p:cNvSpPr/>
          <p:nvPr/>
        </p:nvSpPr>
        <p:spPr>
          <a:xfrm>
            <a:off x="8558784" y="3474720"/>
            <a:ext cx="30723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5C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Targets or impersonates executives to authorize wires and invoice payments.</a:t>
            </a:r>
            <a:endParaRPr lang="en-US" sz="1200" dirty="0"/>
          </a:p>
        </p:txBody>
      </p:sp>
      <p:sp>
        <p:nvSpPr>
          <p:cNvPr id="21" name="Shape 16"/>
          <p:cNvSpPr/>
          <p:nvPr/>
        </p:nvSpPr>
        <p:spPr>
          <a:xfrm>
            <a:off x="640080" y="4407408"/>
            <a:ext cx="3584448" cy="1627632"/>
          </a:xfrm>
          <a:prstGeom prst="roundRect">
            <a:avLst>
              <a:gd name="adj" fmla="val 5056"/>
            </a:avLst>
          </a:prstGeom>
          <a:solidFill>
            <a:srgbClr val="F3F5FA"/>
          </a:solidFill>
          <a:ln w="12700">
            <a:solidFill>
              <a:srgbClr val="E2E7F0"/>
            </a:solidFill>
            <a:prstDash val="solid"/>
          </a:ln>
          <a:effectLst>
            <a:outerShdw sx="100000" sy="100000" kx="0" ky="0" algn="bl" rotWithShape="0" blurRad="88900" dist="38100" dir="5400000">
              <a:srgbClr val="9AA3B5">
                <a:alpha val="22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896112" y="4663440"/>
            <a:ext cx="658368" cy="658368"/>
          </a:xfrm>
          <a:prstGeom prst="ellipse">
            <a:avLst/>
          </a:prstGeom>
          <a:solidFill>
            <a:srgbClr val="FAEFDA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0455" y="4847783"/>
            <a:ext cx="289682" cy="289682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691640" y="4681728"/>
            <a:ext cx="2395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Smishing</a:t>
            </a:r>
            <a:endParaRPr lang="en-US" sz="1600" dirty="0"/>
          </a:p>
        </p:txBody>
      </p:sp>
      <p:sp>
        <p:nvSpPr>
          <p:cNvPr id="25" name="Text 19"/>
          <p:cNvSpPr/>
          <p:nvPr/>
        </p:nvSpPr>
        <p:spPr>
          <a:xfrm>
            <a:off x="896112" y="5340096"/>
            <a:ext cx="30723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5C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by SMS: fake delivery fees, bank alerts, and "you've won" texts.</a:t>
            </a:r>
            <a:endParaRPr lang="en-US" sz="1200" dirty="0"/>
          </a:p>
        </p:txBody>
      </p:sp>
      <p:sp>
        <p:nvSpPr>
          <p:cNvPr id="26" name="Shape 20"/>
          <p:cNvSpPr/>
          <p:nvPr/>
        </p:nvSpPr>
        <p:spPr>
          <a:xfrm>
            <a:off x="4471416" y="4407408"/>
            <a:ext cx="3584448" cy="1627632"/>
          </a:xfrm>
          <a:prstGeom prst="roundRect">
            <a:avLst>
              <a:gd name="adj" fmla="val 5056"/>
            </a:avLst>
          </a:prstGeom>
          <a:solidFill>
            <a:srgbClr val="F3F5FA"/>
          </a:solidFill>
          <a:ln w="12700">
            <a:solidFill>
              <a:srgbClr val="E2E7F0"/>
            </a:solidFill>
            <a:prstDash val="solid"/>
          </a:ln>
          <a:effectLst>
            <a:outerShdw sx="100000" sy="100000" kx="0" ky="0" algn="bl" rotWithShape="0" blurRad="88900" dist="38100" dir="5400000">
              <a:srgbClr val="9AA3B5">
                <a:alpha val="22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4727448" y="4663440"/>
            <a:ext cx="658368" cy="658368"/>
          </a:xfrm>
          <a:prstGeom prst="ellipse">
            <a:avLst/>
          </a:prstGeom>
          <a:solidFill>
            <a:srgbClr val="FAEFDA"/>
          </a:solidFill>
          <a:ln/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11791" y="4847783"/>
            <a:ext cx="289682" cy="289682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5522976" y="4681728"/>
            <a:ext cx="2395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Vishing</a:t>
            </a:r>
            <a:endParaRPr lang="en-US" sz="1600" dirty="0"/>
          </a:p>
        </p:txBody>
      </p:sp>
      <p:sp>
        <p:nvSpPr>
          <p:cNvPr id="30" name="Text 23"/>
          <p:cNvSpPr/>
          <p:nvPr/>
        </p:nvSpPr>
        <p:spPr>
          <a:xfrm>
            <a:off x="4727448" y="5340096"/>
            <a:ext cx="30723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5C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phishing — a caller posing as IT or your bank pressures you for codes.</a:t>
            </a:r>
            <a:endParaRPr lang="en-US" sz="1200" dirty="0"/>
          </a:p>
        </p:txBody>
      </p:sp>
      <p:sp>
        <p:nvSpPr>
          <p:cNvPr id="31" name="Shape 24"/>
          <p:cNvSpPr/>
          <p:nvPr/>
        </p:nvSpPr>
        <p:spPr>
          <a:xfrm>
            <a:off x="8302752" y="4407408"/>
            <a:ext cx="3584448" cy="1627632"/>
          </a:xfrm>
          <a:prstGeom prst="roundRect">
            <a:avLst>
              <a:gd name="adj" fmla="val 5056"/>
            </a:avLst>
          </a:prstGeom>
          <a:solidFill>
            <a:srgbClr val="F3F5FA"/>
          </a:solidFill>
          <a:ln w="12700">
            <a:solidFill>
              <a:srgbClr val="E2E7F0"/>
            </a:solidFill>
            <a:prstDash val="solid"/>
          </a:ln>
          <a:effectLst>
            <a:outerShdw sx="100000" sy="100000" kx="0" ky="0" algn="bl" rotWithShape="0" blurRad="88900" dist="38100" dir="5400000">
              <a:srgbClr val="9AA3B5">
                <a:alpha val="22000"/>
              </a:srgbClr>
            </a:outerShdw>
          </a:effectLst>
        </p:spPr>
      </p:sp>
      <p:sp>
        <p:nvSpPr>
          <p:cNvPr id="32" name="Shape 25"/>
          <p:cNvSpPr/>
          <p:nvPr/>
        </p:nvSpPr>
        <p:spPr>
          <a:xfrm>
            <a:off x="8558784" y="4663440"/>
            <a:ext cx="658368" cy="658368"/>
          </a:xfrm>
          <a:prstGeom prst="ellipse">
            <a:avLst/>
          </a:prstGeom>
          <a:solidFill>
            <a:srgbClr val="DFF1EB"/>
          </a:solidFill>
          <a:ln/>
        </p:spPr>
      </p:sp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43127" y="4847783"/>
            <a:ext cx="289682" cy="289682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9354312" y="4681728"/>
            <a:ext cx="2395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Clone phishing</a:t>
            </a:r>
            <a:endParaRPr lang="en-US" sz="1600" dirty="0"/>
          </a:p>
        </p:txBody>
      </p:sp>
      <p:sp>
        <p:nvSpPr>
          <p:cNvPr id="35" name="Text 27"/>
          <p:cNvSpPr/>
          <p:nvPr/>
        </p:nvSpPr>
        <p:spPr>
          <a:xfrm>
            <a:off x="8558784" y="5340096"/>
            <a:ext cx="30723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5C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 email you got, copied and re-sent with the safe link swapped out.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E15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722376"/>
            <a:ext cx="310896" cy="20117"/>
          </a:xfrm>
          <a:prstGeom prst="rect">
            <a:avLst/>
          </a:prstGeom>
          <a:solidFill>
            <a:srgbClr val="C77F17"/>
          </a:solidFill>
          <a:ln/>
        </p:spPr>
      </p:sp>
      <p:sp>
        <p:nvSpPr>
          <p:cNvPr id="3" name="Text 1"/>
          <p:cNvSpPr/>
          <p:nvPr/>
        </p:nvSpPr>
        <p:spPr>
          <a:xfrm>
            <a:off x="1234440" y="5760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77F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WHY IT MATTERS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" y="932688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E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stakes are real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822960" y="1572768"/>
            <a:ext cx="10424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95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careless click can expose an entire organization. The economics overwhelmingly favor the attacker — which is exactly why a trained human is the control that matters.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22960" y="2697480"/>
            <a:ext cx="3383280" cy="3108960"/>
          </a:xfrm>
          <a:prstGeom prst="roundRect">
            <a:avLst>
              <a:gd name="adj" fmla="val 2941"/>
            </a:avLst>
          </a:prstGeom>
          <a:solidFill>
            <a:srgbClr val="1C2845"/>
          </a:solidFill>
          <a:ln w="12700">
            <a:solidFill>
              <a:srgbClr val="2A365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88720" y="3081528"/>
            <a:ext cx="914400" cy="914400"/>
          </a:xfrm>
          <a:prstGeom prst="ellipse">
            <a:avLst/>
          </a:prstGeom>
          <a:solidFill>
            <a:srgbClr val="18223C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44752" y="3337560"/>
            <a:ext cx="402336" cy="40233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88720" y="416052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E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entry point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1188720" y="4663440"/>
            <a:ext cx="2651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95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is the most common way attackers gain an initial foothold in a network.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4480560" y="2697480"/>
            <a:ext cx="3383280" cy="3108960"/>
          </a:xfrm>
          <a:prstGeom prst="roundRect">
            <a:avLst>
              <a:gd name="adj" fmla="val 2941"/>
            </a:avLst>
          </a:prstGeom>
          <a:solidFill>
            <a:srgbClr val="1C2845"/>
          </a:solidFill>
          <a:ln w="12700">
            <a:solidFill>
              <a:srgbClr val="2A3656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846320" y="3081528"/>
            <a:ext cx="914400" cy="914400"/>
          </a:xfrm>
          <a:prstGeom prst="ellipse">
            <a:avLst/>
          </a:prstGeom>
          <a:solidFill>
            <a:srgbClr val="18223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02352" y="3337560"/>
            <a:ext cx="402336" cy="40233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846320" y="416052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E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 of failure</a:t>
            </a:r>
            <a:endParaRPr lang="en-US" sz="2000" dirty="0"/>
          </a:p>
        </p:txBody>
      </p:sp>
      <p:sp>
        <p:nvSpPr>
          <p:cNvPr id="15" name="Text 11"/>
          <p:cNvSpPr/>
          <p:nvPr/>
        </p:nvSpPr>
        <p:spPr>
          <a:xfrm>
            <a:off x="4846320" y="4663440"/>
            <a:ext cx="2651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95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often click within minutes — faster than most defenses can respond.</a:t>
            </a:r>
            <a:endParaRPr lang="en-US" sz="1350" dirty="0"/>
          </a:p>
        </p:txBody>
      </p:sp>
      <p:sp>
        <p:nvSpPr>
          <p:cNvPr id="16" name="Shape 12"/>
          <p:cNvSpPr/>
          <p:nvPr/>
        </p:nvSpPr>
        <p:spPr>
          <a:xfrm>
            <a:off x="8138160" y="2697480"/>
            <a:ext cx="3383280" cy="3108960"/>
          </a:xfrm>
          <a:prstGeom prst="roundRect">
            <a:avLst>
              <a:gd name="adj" fmla="val 2941"/>
            </a:avLst>
          </a:prstGeom>
          <a:solidFill>
            <a:srgbClr val="1C2845"/>
          </a:solidFill>
          <a:ln w="12700">
            <a:solidFill>
              <a:srgbClr val="2A3656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8503920" y="3081528"/>
            <a:ext cx="914400" cy="914400"/>
          </a:xfrm>
          <a:prstGeom prst="ellipse">
            <a:avLst/>
          </a:prstGeom>
          <a:solidFill>
            <a:srgbClr val="18223C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59952" y="3337560"/>
            <a:ext cx="402336" cy="402336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503920" y="416052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E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cost to attack</a:t>
            </a:r>
            <a:endParaRPr lang="en-US" sz="2000" dirty="0"/>
          </a:p>
        </p:txBody>
      </p:sp>
      <p:sp>
        <p:nvSpPr>
          <p:cNvPr id="20" name="Text 15"/>
          <p:cNvSpPr/>
          <p:nvPr/>
        </p:nvSpPr>
        <p:spPr>
          <a:xfrm>
            <a:off x="8503920" y="4663440"/>
            <a:ext cx="2651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95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Sending phishing at scale is nearly free, so attackers only need one success.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E15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85216"/>
            <a:ext cx="310896" cy="20117"/>
          </a:xfrm>
          <a:prstGeom prst="rect">
            <a:avLst/>
          </a:prstGeom>
          <a:solidFill>
            <a:srgbClr val="E0463E"/>
          </a:solidFill>
          <a:ln/>
        </p:spPr>
      </p:sp>
      <p:sp>
        <p:nvSpPr>
          <p:cNvPr id="3" name="Text 1"/>
          <p:cNvSpPr/>
          <p:nvPr/>
        </p:nvSpPr>
        <p:spPr>
          <a:xfrm>
            <a:off x="1051560" y="4389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046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RECOGNIZE THE EMAIL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795528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E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Anatomy of a phishing email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95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single sign proves a fake — but they cluster. Tap through Exhibit A: every numbered flag below is a habit to check.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1965960"/>
            <a:ext cx="5349240" cy="4526280"/>
          </a:xfrm>
          <a:prstGeom prst="roundRect">
            <a:avLst>
              <a:gd name="adj" fmla="val 121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9AA3B5">
                <a:alpha val="2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1965960"/>
            <a:ext cx="5349240" cy="384048"/>
          </a:xfrm>
          <a:prstGeom prst="rect">
            <a:avLst/>
          </a:prstGeom>
          <a:solidFill>
            <a:srgbClr val="ECEAE0"/>
          </a:solidFill>
          <a:ln/>
        </p:spPr>
      </p:sp>
      <p:sp>
        <p:nvSpPr>
          <p:cNvPr id="8" name="Shape 6"/>
          <p:cNvSpPr/>
          <p:nvPr/>
        </p:nvSpPr>
        <p:spPr>
          <a:xfrm>
            <a:off x="822960" y="2103120"/>
            <a:ext cx="109728" cy="109728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9" name="Shape 7"/>
          <p:cNvSpPr/>
          <p:nvPr/>
        </p:nvSpPr>
        <p:spPr>
          <a:xfrm>
            <a:off x="1024128" y="2103120"/>
            <a:ext cx="109728" cy="109728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10" name="Shape 8"/>
          <p:cNvSpPr/>
          <p:nvPr/>
        </p:nvSpPr>
        <p:spPr>
          <a:xfrm>
            <a:off x="1225296" y="2103120"/>
            <a:ext cx="109728" cy="109728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11" name="Text 9"/>
          <p:cNvSpPr/>
          <p:nvPr/>
        </p:nvSpPr>
        <p:spPr>
          <a:xfrm>
            <a:off x="1508760" y="196596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E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Inbox — 1 new message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188720" y="2532888"/>
            <a:ext cx="457200" cy="457200"/>
          </a:xfrm>
          <a:prstGeom prst="ellipse">
            <a:avLst/>
          </a:prstGeom>
          <a:solidFill>
            <a:srgbClr val="1A53C4"/>
          </a:solidFill>
          <a:ln/>
        </p:spPr>
      </p:sp>
      <p:sp>
        <p:nvSpPr>
          <p:cNvPr id="13" name="Text 11"/>
          <p:cNvSpPr/>
          <p:nvPr/>
        </p:nvSpPr>
        <p:spPr>
          <a:xfrm>
            <a:off x="1188720" y="25328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783080" y="251460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PayPal Security Team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783080" y="2752344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6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service@paypa1-secure.com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371600" y="3172968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URGENT: Your account will be suspended in 24 hours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1371600" y="3749040"/>
            <a:ext cx="4297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43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Dear Valued Customer,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280160" y="4014216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343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detected unusual activity. For your protection your access has been limited. Verify your identity immediately or your account will be permanently closed.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1371600" y="4754880"/>
            <a:ext cx="2103120" cy="457200"/>
          </a:xfrm>
          <a:prstGeom prst="roundRect">
            <a:avLst>
              <a:gd name="adj" fmla="val 12000"/>
            </a:avLst>
          </a:prstGeom>
          <a:solidFill>
            <a:srgbClr val="1A53C4"/>
          </a:solidFill>
          <a:ln/>
        </p:spPr>
      </p:sp>
      <p:sp>
        <p:nvSpPr>
          <p:cNvPr id="20" name="Text 18"/>
          <p:cNvSpPr/>
          <p:nvPr/>
        </p:nvSpPr>
        <p:spPr>
          <a:xfrm>
            <a:off x="1371600" y="475488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My Account Now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1280160" y="5349240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i="1" dirty="0">
                <a:solidFill>
                  <a:srgbClr val="6B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to verify will resul in legal action and you will lose acces to your funds permanetly.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786384" y="2624328"/>
            <a:ext cx="292608" cy="292608"/>
          </a:xfrm>
          <a:prstGeom prst="ellipse">
            <a:avLst/>
          </a:prstGeom>
          <a:solidFill>
            <a:srgbClr val="E0463E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38100" dir="5400000">
              <a:srgbClr val="9AA3B5">
                <a:alpha val="2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786384" y="26243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786384" y="3191256"/>
            <a:ext cx="292608" cy="292608"/>
          </a:xfrm>
          <a:prstGeom prst="ellipse">
            <a:avLst/>
          </a:prstGeom>
          <a:solidFill>
            <a:srgbClr val="E0463E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38100" dir="5400000">
              <a:srgbClr val="9AA3B5">
                <a:alpha val="2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786384" y="319125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786384" y="3703320"/>
            <a:ext cx="292608" cy="292608"/>
          </a:xfrm>
          <a:prstGeom prst="ellipse">
            <a:avLst/>
          </a:prstGeom>
          <a:solidFill>
            <a:srgbClr val="E0463E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38100" dir="5400000">
              <a:srgbClr val="9AA3B5">
                <a:alpha val="2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786384" y="37033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786384" y="4828032"/>
            <a:ext cx="292608" cy="292608"/>
          </a:xfrm>
          <a:prstGeom prst="ellipse">
            <a:avLst/>
          </a:prstGeom>
          <a:solidFill>
            <a:srgbClr val="E0463E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38100" dir="5400000">
              <a:srgbClr val="9AA3B5">
                <a:alpha val="2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786384" y="482803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786384" y="5367528"/>
            <a:ext cx="292608" cy="292608"/>
          </a:xfrm>
          <a:prstGeom prst="ellipse">
            <a:avLst/>
          </a:prstGeom>
          <a:solidFill>
            <a:srgbClr val="E0463E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38100" dir="5400000">
              <a:srgbClr val="9AA3B5">
                <a:alpha val="22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786384" y="53675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6446520" y="2039112"/>
            <a:ext cx="329184" cy="329184"/>
          </a:xfrm>
          <a:prstGeom prst="ellipse">
            <a:avLst/>
          </a:prstGeom>
          <a:solidFill>
            <a:srgbClr val="E0463E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38100" dir="5400000">
              <a:srgbClr val="9AA3B5">
                <a:alpha val="22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6446520" y="203911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922008" y="1975104"/>
            <a:ext cx="46451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E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Sender address, not the name</a:t>
            </a:r>
            <a:endParaRPr lang="en-US" sz="1450" dirty="0"/>
          </a:p>
        </p:txBody>
      </p:sp>
      <p:sp>
        <p:nvSpPr>
          <p:cNvPr id="35" name="Text 33"/>
          <p:cNvSpPr/>
          <p:nvPr/>
        </p:nvSpPr>
        <p:spPr>
          <a:xfrm>
            <a:off x="6922008" y="2267712"/>
            <a:ext cx="4645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95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paypa1-secure.com is not paypal.com. Always expand the real address.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6446520" y="2779776"/>
            <a:ext cx="329184" cy="329184"/>
          </a:xfrm>
          <a:prstGeom prst="ellipse">
            <a:avLst/>
          </a:prstGeom>
          <a:solidFill>
            <a:srgbClr val="C77F17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38100" dir="5400000">
              <a:srgbClr val="9AA3B5">
                <a:alpha val="22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6446520" y="277977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6922008" y="2715768"/>
            <a:ext cx="46451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E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Manufactured urgency</a:t>
            </a:r>
            <a:endParaRPr lang="en-US" sz="1450" dirty="0"/>
          </a:p>
        </p:txBody>
      </p:sp>
      <p:sp>
        <p:nvSpPr>
          <p:cNvPr id="39" name="Text 37"/>
          <p:cNvSpPr/>
          <p:nvPr/>
        </p:nvSpPr>
        <p:spPr>
          <a:xfrm>
            <a:off x="6922008" y="3008376"/>
            <a:ext cx="4645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95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"Within 24 hours / immediately / or else" is pressure to stop you thinking.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6446520" y="3520440"/>
            <a:ext cx="329184" cy="329184"/>
          </a:xfrm>
          <a:prstGeom prst="ellipse">
            <a:avLst/>
          </a:prstGeom>
          <a:solidFill>
            <a:srgbClr val="C77F17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38100" dir="5400000">
              <a:srgbClr val="9AA3B5">
                <a:alpha val="22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6446520" y="35204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6922008" y="3456432"/>
            <a:ext cx="46451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E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greeting</a:t>
            </a:r>
            <a:endParaRPr lang="en-US" sz="1450" dirty="0"/>
          </a:p>
        </p:txBody>
      </p:sp>
      <p:sp>
        <p:nvSpPr>
          <p:cNvPr id="43" name="Text 41"/>
          <p:cNvSpPr/>
          <p:nvPr/>
        </p:nvSpPr>
        <p:spPr>
          <a:xfrm>
            <a:off x="6922008" y="3749040"/>
            <a:ext cx="4645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95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"Dear Valued Customer." A real provider that has your data uses your name.</a:t>
            </a:r>
            <a:endParaRPr lang="en-US" sz="1150" dirty="0"/>
          </a:p>
        </p:txBody>
      </p:sp>
      <p:sp>
        <p:nvSpPr>
          <p:cNvPr id="44" name="Shape 42"/>
          <p:cNvSpPr/>
          <p:nvPr/>
        </p:nvSpPr>
        <p:spPr>
          <a:xfrm>
            <a:off x="6446520" y="4261104"/>
            <a:ext cx="329184" cy="329184"/>
          </a:xfrm>
          <a:prstGeom prst="ellipse">
            <a:avLst/>
          </a:prstGeom>
          <a:solidFill>
            <a:srgbClr val="E0463E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38100" dir="5400000">
              <a:srgbClr val="9AA3B5">
                <a:alpha val="22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6446520" y="426110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6922008" y="4197096"/>
            <a:ext cx="46451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E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Mismatched link</a:t>
            </a:r>
            <a:endParaRPr lang="en-US" sz="1450" dirty="0"/>
          </a:p>
        </p:txBody>
      </p:sp>
      <p:sp>
        <p:nvSpPr>
          <p:cNvPr id="47" name="Text 45"/>
          <p:cNvSpPr/>
          <p:nvPr/>
        </p:nvSpPr>
        <p:spPr>
          <a:xfrm>
            <a:off x="6922008" y="4489704"/>
            <a:ext cx="4645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95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Hover before clicking — and never log in from a link inside an email.</a:t>
            </a:r>
            <a:endParaRPr lang="en-US" sz="1150" dirty="0"/>
          </a:p>
        </p:txBody>
      </p:sp>
      <p:sp>
        <p:nvSpPr>
          <p:cNvPr id="48" name="Shape 46"/>
          <p:cNvSpPr/>
          <p:nvPr/>
        </p:nvSpPr>
        <p:spPr>
          <a:xfrm>
            <a:off x="6446520" y="5001768"/>
            <a:ext cx="329184" cy="329184"/>
          </a:xfrm>
          <a:prstGeom prst="ellipse">
            <a:avLst/>
          </a:prstGeom>
          <a:solidFill>
            <a:srgbClr val="C77F17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38100" dir="5400000">
              <a:srgbClr val="9AA3B5">
                <a:alpha val="22000"/>
              </a:srgbClr>
            </a:outerShdw>
          </a:effectLst>
        </p:spPr>
      </p:sp>
      <p:sp>
        <p:nvSpPr>
          <p:cNvPr id="49" name="Text 47"/>
          <p:cNvSpPr/>
          <p:nvPr/>
        </p:nvSpPr>
        <p:spPr>
          <a:xfrm>
            <a:off x="6446520" y="50017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50" name="Text 48"/>
          <p:cNvSpPr/>
          <p:nvPr/>
        </p:nvSpPr>
        <p:spPr>
          <a:xfrm>
            <a:off x="6922008" y="4937760"/>
            <a:ext cx="46451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E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 &amp; grammar slips</a:t>
            </a:r>
            <a:endParaRPr lang="en-US" sz="1450" dirty="0"/>
          </a:p>
        </p:txBody>
      </p:sp>
      <p:sp>
        <p:nvSpPr>
          <p:cNvPr id="51" name="Text 49"/>
          <p:cNvSpPr/>
          <p:nvPr/>
        </p:nvSpPr>
        <p:spPr>
          <a:xfrm>
            <a:off x="6922008" y="5230368"/>
            <a:ext cx="4645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95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"resul," "acces," plus a baseless legal threat. Classic scam tells.</a:t>
            </a:r>
            <a:endParaRPr lang="en-US" sz="1150" dirty="0"/>
          </a:p>
        </p:txBody>
      </p:sp>
      <p:sp>
        <p:nvSpPr>
          <p:cNvPr id="52" name="Shape 50"/>
          <p:cNvSpPr/>
          <p:nvPr/>
        </p:nvSpPr>
        <p:spPr>
          <a:xfrm>
            <a:off x="6446520" y="5742432"/>
            <a:ext cx="329184" cy="329184"/>
          </a:xfrm>
          <a:prstGeom prst="ellipse">
            <a:avLst/>
          </a:prstGeom>
          <a:solidFill>
            <a:srgbClr val="0E8A72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38100" dir="5400000">
              <a:srgbClr val="9AA3B5">
                <a:alpha val="22000"/>
              </a:srgbClr>
            </a:outerShdw>
          </a:effectLst>
        </p:spPr>
      </p:sp>
      <p:sp>
        <p:nvSpPr>
          <p:cNvPr id="53" name="Text 51"/>
          <p:cNvSpPr/>
          <p:nvPr/>
        </p:nvSpPr>
        <p:spPr>
          <a:xfrm>
            <a:off x="6446520" y="57424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54" name="Text 52"/>
          <p:cNvSpPr/>
          <p:nvPr/>
        </p:nvSpPr>
        <p:spPr>
          <a:xfrm>
            <a:off x="6922008" y="5678424"/>
            <a:ext cx="46451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E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your gut</a:t>
            </a:r>
            <a:endParaRPr lang="en-US" sz="1450" dirty="0"/>
          </a:p>
        </p:txBody>
      </p:sp>
      <p:sp>
        <p:nvSpPr>
          <p:cNvPr id="55" name="Text 53"/>
          <p:cNvSpPr/>
          <p:nvPr/>
        </p:nvSpPr>
        <p:spPr>
          <a:xfrm>
            <a:off x="6922008" y="5971032"/>
            <a:ext cx="4645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95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Unexpected requests, attachments, or password resets you didn't ask for.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30936"/>
            <a:ext cx="310896" cy="20117"/>
          </a:xfrm>
          <a:prstGeom prst="rect">
            <a:avLst/>
          </a:prstGeom>
          <a:solidFill>
            <a:srgbClr val="E0463E"/>
          </a:solidFill>
          <a:ln/>
        </p:spPr>
      </p:sp>
      <p:sp>
        <p:nvSpPr>
          <p:cNvPr id="3" name="Text 1"/>
          <p:cNvSpPr/>
          <p:nvPr/>
        </p:nvSpPr>
        <p:spPr>
          <a:xfrm>
            <a:off x="1051560" y="4846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046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RECOGNIZE THE WEBSITE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841248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Spotting a fake website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444752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5C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URLs left to right and find the real domain — the part right before the first single slash. Everything else is decoration the attacker controls.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2103120"/>
            <a:ext cx="10908792" cy="731520"/>
          </a:xfrm>
          <a:prstGeom prst="roundRect">
            <a:avLst>
              <a:gd name="adj" fmla="val 8750"/>
            </a:avLst>
          </a:prstGeom>
          <a:solidFill>
            <a:srgbClr val="F3F5FA"/>
          </a:solidFill>
          <a:ln w="12700">
            <a:solidFill>
              <a:srgbClr val="E2E7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68680" y="2304288"/>
            <a:ext cx="868680" cy="329184"/>
          </a:xfrm>
          <a:prstGeom prst="roundRect">
            <a:avLst>
              <a:gd name="adj" fmla="val 13889"/>
            </a:avLst>
          </a:prstGeom>
          <a:solidFill>
            <a:srgbClr val="DFF1EB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2304288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0E8A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REAL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920240" y="2176272"/>
            <a:ext cx="94000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6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https://accounts.</a:t>
            </a:r>
            <a:pPr indent="0" marL="0">
              <a:buNone/>
            </a:pPr>
            <a:r>
              <a:rPr lang="en-US" sz="1400" b="1" dirty="0">
                <a:solidFill>
                  <a:srgbClr val="0E8A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google.com</a:t>
            </a:r>
            <a:pPr indent="0" marL="0">
              <a:buNone/>
            </a:pPr>
            <a:r>
              <a:rPr lang="en-US" sz="1400" dirty="0">
                <a:solidFill>
                  <a:srgbClr val="5C66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/signin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920240" y="2514600"/>
            <a:ext cx="9400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C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domain before the first slash is google.com — genuine.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40080" y="2944368"/>
            <a:ext cx="10908792" cy="731520"/>
          </a:xfrm>
          <a:prstGeom prst="roundRect">
            <a:avLst>
              <a:gd name="adj" fmla="val 8750"/>
            </a:avLst>
          </a:prstGeom>
          <a:solidFill>
            <a:srgbClr val="F3F5FA"/>
          </a:solidFill>
          <a:ln w="12700">
            <a:solidFill>
              <a:srgbClr val="E2E7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68680" y="3145536"/>
            <a:ext cx="868680" cy="329184"/>
          </a:xfrm>
          <a:prstGeom prst="roundRect">
            <a:avLst>
              <a:gd name="adj" fmla="val 13889"/>
            </a:avLst>
          </a:prstGeom>
          <a:solidFill>
            <a:srgbClr val="FBE9E8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3145536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E046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FAKE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920240" y="3017520"/>
            <a:ext cx="94000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6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https://google.com.</a:t>
            </a:r>
            <a:pPr indent="0" marL="0">
              <a:buNone/>
            </a:pPr>
            <a:r>
              <a:rPr lang="en-US" sz="1400" b="1" dirty="0">
                <a:solidFill>
                  <a:srgbClr val="E046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verify-account.ru</a:t>
            </a:r>
            <a:pPr indent="0" marL="0">
              <a:buNone/>
            </a:pPr>
            <a:r>
              <a:rPr lang="en-US" sz="1400" dirty="0">
                <a:solidFill>
                  <a:srgbClr val="5C66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/signin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920240" y="3355848"/>
            <a:ext cx="9400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C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domain is verify-account.ru. "google.com" is just a subdomain.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0080" y="3785616"/>
            <a:ext cx="10908792" cy="731520"/>
          </a:xfrm>
          <a:prstGeom prst="roundRect">
            <a:avLst>
              <a:gd name="adj" fmla="val 8750"/>
            </a:avLst>
          </a:prstGeom>
          <a:solidFill>
            <a:srgbClr val="F3F5FA"/>
          </a:solidFill>
          <a:ln w="12700">
            <a:solidFill>
              <a:srgbClr val="E2E7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68680" y="3986784"/>
            <a:ext cx="868680" cy="329184"/>
          </a:xfrm>
          <a:prstGeom prst="roundRect">
            <a:avLst>
              <a:gd name="adj" fmla="val 13889"/>
            </a:avLst>
          </a:prstGeom>
          <a:solidFill>
            <a:srgbClr val="FBE9E8"/>
          </a:solidFill>
          <a:ln/>
        </p:spPr>
      </p:sp>
      <p:sp>
        <p:nvSpPr>
          <p:cNvPr id="18" name="Text 16"/>
          <p:cNvSpPr/>
          <p:nvPr/>
        </p:nvSpPr>
        <p:spPr>
          <a:xfrm>
            <a:off x="868680" y="3986784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E046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FAKE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920240" y="3858768"/>
            <a:ext cx="94000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6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https://www.</a:t>
            </a:r>
            <a:pPr indent="0" marL="0">
              <a:buNone/>
            </a:pPr>
            <a:r>
              <a:rPr lang="en-US" sz="1400" b="1" dirty="0">
                <a:solidFill>
                  <a:srgbClr val="E046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paypa1</a:t>
            </a:r>
            <a:pPr indent="0" marL="0">
              <a:buNone/>
            </a:pPr>
            <a:r>
              <a:rPr lang="en-US" sz="1400" dirty="0">
                <a:solidFill>
                  <a:srgbClr val="5C66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.com/login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920240" y="4197096"/>
            <a:ext cx="9400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C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Typosquatting: the letter "l" replaced with the number "1."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40080" y="4626864"/>
            <a:ext cx="10908792" cy="731520"/>
          </a:xfrm>
          <a:prstGeom prst="roundRect">
            <a:avLst>
              <a:gd name="adj" fmla="val 8750"/>
            </a:avLst>
          </a:prstGeom>
          <a:solidFill>
            <a:srgbClr val="F3F5FA"/>
          </a:solidFill>
          <a:ln w="12700">
            <a:solidFill>
              <a:srgbClr val="E2E7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68680" y="4828032"/>
            <a:ext cx="868680" cy="329184"/>
          </a:xfrm>
          <a:prstGeom prst="roundRect">
            <a:avLst>
              <a:gd name="adj" fmla="val 13889"/>
            </a:avLst>
          </a:prstGeom>
          <a:solidFill>
            <a:srgbClr val="FBE9E8"/>
          </a:solidFill>
          <a:ln/>
        </p:spPr>
      </p:sp>
      <p:sp>
        <p:nvSpPr>
          <p:cNvPr id="23" name="Text 21"/>
          <p:cNvSpPr/>
          <p:nvPr/>
        </p:nvSpPr>
        <p:spPr>
          <a:xfrm>
            <a:off x="868680" y="4828032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E046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FAKE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920240" y="4700016"/>
            <a:ext cx="94000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6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https://secure-microsoft-</a:t>
            </a:r>
            <a:pPr indent="0" marL="0">
              <a:buNone/>
            </a:pPr>
            <a:r>
              <a:rPr lang="en-US" sz="1400" b="1" dirty="0">
                <a:solidFill>
                  <a:srgbClr val="E046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login.help</a:t>
            </a:r>
            <a:pPr indent="0" marL="0">
              <a:buNone/>
            </a:pPr>
            <a:r>
              <a:rPr lang="en-US" sz="1400" dirty="0">
                <a:solidFill>
                  <a:srgbClr val="5C66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/office365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920240" y="5038344"/>
            <a:ext cx="9400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C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words bolted to an unrelated domain (login.help).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40080" y="5541264"/>
            <a:ext cx="3456432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7F0"/>
            </a:solidFill>
            <a:prstDash val="solid"/>
          </a:ln>
          <a:effectLst>
            <a:outerShdw sx="100000" sy="100000" kx="0" ky="0" algn="bl" rotWithShape="0" blurRad="88900" dist="38100" dir="5400000">
              <a:srgbClr val="9AA3B5">
                <a:alpha val="2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841248" y="5779008"/>
            <a:ext cx="438912" cy="438912"/>
          </a:xfrm>
          <a:prstGeom prst="ellipse">
            <a:avLst/>
          </a:prstGeom>
          <a:solidFill>
            <a:srgbClr val="FAEFDA"/>
          </a:solidFill>
          <a:ln/>
        </p:spPr>
      </p:sp>
      <p:pic>
        <p:nvPicPr>
          <p:cNvPr id="2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4143" y="5901903"/>
            <a:ext cx="193121" cy="193121"/>
          </a:xfrm>
          <a:prstGeom prst="rect">
            <a:avLst/>
          </a:prstGeom>
        </p:spPr>
      </p:pic>
      <p:sp>
        <p:nvSpPr>
          <p:cNvPr id="29" name="Text 26"/>
          <p:cNvSpPr/>
          <p:nvPr/>
        </p:nvSpPr>
        <p:spPr>
          <a:xfrm>
            <a:off x="1417320" y="5705856"/>
            <a:ext cx="2542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padlock means little</a:t>
            </a:r>
            <a:endParaRPr lang="en-US" sz="1250" dirty="0"/>
          </a:p>
        </p:txBody>
      </p:sp>
      <p:sp>
        <p:nvSpPr>
          <p:cNvPr id="30" name="Text 27"/>
          <p:cNvSpPr/>
          <p:nvPr/>
        </p:nvSpPr>
        <p:spPr>
          <a:xfrm>
            <a:off x="1417320" y="5980176"/>
            <a:ext cx="25420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C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 only means encrypted, not honest. Phishing sites have padlocks too.</a:t>
            </a:r>
            <a:endParaRPr lang="en-US" sz="1050" dirty="0"/>
          </a:p>
        </p:txBody>
      </p:sp>
      <p:sp>
        <p:nvSpPr>
          <p:cNvPr id="31" name="Shape 28"/>
          <p:cNvSpPr/>
          <p:nvPr/>
        </p:nvSpPr>
        <p:spPr>
          <a:xfrm>
            <a:off x="4297680" y="5541264"/>
            <a:ext cx="3456432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7F0"/>
            </a:solidFill>
            <a:prstDash val="solid"/>
          </a:ln>
          <a:effectLst>
            <a:outerShdw sx="100000" sy="100000" kx="0" ky="0" algn="bl" rotWithShape="0" blurRad="88900" dist="38100" dir="5400000">
              <a:srgbClr val="9AA3B5">
                <a:alpha val="22000"/>
              </a:srgbClr>
            </a:outerShdw>
          </a:effectLst>
        </p:spPr>
      </p:sp>
      <p:sp>
        <p:nvSpPr>
          <p:cNvPr id="32" name="Shape 29"/>
          <p:cNvSpPr/>
          <p:nvPr/>
        </p:nvSpPr>
        <p:spPr>
          <a:xfrm>
            <a:off x="4498848" y="5779008"/>
            <a:ext cx="438912" cy="438912"/>
          </a:xfrm>
          <a:prstGeom prst="ellipse">
            <a:avLst/>
          </a:prstGeom>
          <a:solidFill>
            <a:srgbClr val="DFF1EB"/>
          </a:solidFill>
          <a:ln/>
        </p:spPr>
      </p:sp>
      <p:pic>
        <p:nvPicPr>
          <p:cNvPr id="3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1743" y="5901903"/>
            <a:ext cx="193121" cy="193121"/>
          </a:xfrm>
          <a:prstGeom prst="rect">
            <a:avLst/>
          </a:prstGeom>
        </p:spPr>
      </p:pic>
      <p:sp>
        <p:nvSpPr>
          <p:cNvPr id="34" name="Text 30"/>
          <p:cNvSpPr/>
          <p:nvPr/>
        </p:nvSpPr>
        <p:spPr>
          <a:xfrm>
            <a:off x="5074920" y="5705856"/>
            <a:ext cx="2542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it yourself</a:t>
            </a:r>
            <a:endParaRPr lang="en-US" sz="1250" dirty="0"/>
          </a:p>
        </p:txBody>
      </p:sp>
      <p:sp>
        <p:nvSpPr>
          <p:cNvPr id="35" name="Text 31"/>
          <p:cNvSpPr/>
          <p:nvPr/>
        </p:nvSpPr>
        <p:spPr>
          <a:xfrm>
            <a:off x="5074920" y="5980176"/>
            <a:ext cx="25420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C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 sensitive sites via a bookmark or typed address — never the email link.</a:t>
            </a:r>
            <a:endParaRPr lang="en-US" sz="1050" dirty="0"/>
          </a:p>
        </p:txBody>
      </p:sp>
      <p:sp>
        <p:nvSpPr>
          <p:cNvPr id="36" name="Shape 32"/>
          <p:cNvSpPr/>
          <p:nvPr/>
        </p:nvSpPr>
        <p:spPr>
          <a:xfrm>
            <a:off x="7955280" y="5541264"/>
            <a:ext cx="3456432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7F0"/>
            </a:solidFill>
            <a:prstDash val="solid"/>
          </a:ln>
          <a:effectLst>
            <a:outerShdw sx="100000" sy="100000" kx="0" ky="0" algn="bl" rotWithShape="0" blurRad="88900" dist="38100" dir="5400000">
              <a:srgbClr val="9AA3B5">
                <a:alpha val="22000"/>
              </a:srgbClr>
            </a:outerShdw>
          </a:effectLst>
        </p:spPr>
      </p:sp>
      <p:sp>
        <p:nvSpPr>
          <p:cNvPr id="37" name="Shape 33"/>
          <p:cNvSpPr/>
          <p:nvPr/>
        </p:nvSpPr>
        <p:spPr>
          <a:xfrm>
            <a:off x="8156448" y="5779008"/>
            <a:ext cx="438912" cy="438912"/>
          </a:xfrm>
          <a:prstGeom prst="ellipse">
            <a:avLst/>
          </a:prstGeom>
          <a:solidFill>
            <a:srgbClr val="FBE9E8"/>
          </a:solidFill>
          <a:ln/>
        </p:spPr>
      </p:sp>
      <p:pic>
        <p:nvPicPr>
          <p:cNvPr id="3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9343" y="5901903"/>
            <a:ext cx="193121" cy="193121"/>
          </a:xfrm>
          <a:prstGeom prst="rect">
            <a:avLst/>
          </a:prstGeom>
        </p:spPr>
      </p:pic>
      <p:sp>
        <p:nvSpPr>
          <p:cNvPr id="39" name="Text 34"/>
          <p:cNvSpPr/>
          <p:nvPr/>
        </p:nvSpPr>
        <p:spPr>
          <a:xfrm>
            <a:off x="8732520" y="5705856"/>
            <a:ext cx="2542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the form</a:t>
            </a:r>
            <a:endParaRPr lang="en-US" sz="1250" dirty="0"/>
          </a:p>
        </p:txBody>
      </p:sp>
      <p:sp>
        <p:nvSpPr>
          <p:cNvPr id="40" name="Text 35"/>
          <p:cNvSpPr/>
          <p:nvPr/>
        </p:nvSpPr>
        <p:spPr>
          <a:xfrm>
            <a:off x="8732520" y="5980176"/>
            <a:ext cx="25420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C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page asking for your full card, PIN, or one-time code "to verify" is fake.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30936"/>
            <a:ext cx="310896" cy="20117"/>
          </a:xfrm>
          <a:prstGeom prst="rect">
            <a:avLst/>
          </a:prstGeom>
          <a:solidFill>
            <a:srgbClr val="C77F17"/>
          </a:solidFill>
          <a:ln/>
        </p:spPr>
      </p:sp>
      <p:sp>
        <p:nvSpPr>
          <p:cNvPr id="3" name="Text 1"/>
          <p:cNvSpPr/>
          <p:nvPr/>
        </p:nvSpPr>
        <p:spPr>
          <a:xfrm>
            <a:off x="1051560" y="4846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77F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PSYCHOLOGY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841248"/>
            <a:ext cx="11338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engineering: the levers they pull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1426464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5C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Attackers don't hack the system — they hack you, through predictable emotional triggers. Naming the lever as you feel it is half the defense.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2057400"/>
            <a:ext cx="3584448" cy="1591056"/>
          </a:xfrm>
          <a:prstGeom prst="roundRect">
            <a:avLst>
              <a:gd name="adj" fmla="val 5172"/>
            </a:avLst>
          </a:prstGeom>
          <a:solidFill>
            <a:srgbClr val="F3F5FA"/>
          </a:solidFill>
          <a:ln w="12700">
            <a:solidFill>
              <a:srgbClr val="E2E7F0"/>
            </a:solidFill>
            <a:prstDash val="solid"/>
          </a:ln>
          <a:effectLst>
            <a:outerShdw sx="100000" sy="100000" kx="0" ky="0" algn="bl" rotWithShape="0" blurRad="88900" dist="38100" dir="5400000">
              <a:srgbClr val="9AA3B5">
                <a:alpha val="2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77824" y="2295144"/>
            <a:ext cx="548640" cy="548640"/>
          </a:xfrm>
          <a:prstGeom prst="ellipse">
            <a:avLst/>
          </a:prstGeom>
          <a:solidFill>
            <a:srgbClr val="FAEFD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1443" y="2448763"/>
            <a:ext cx="241402" cy="24140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554480" y="2295144"/>
            <a:ext cx="24871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450" b="1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Urgency &amp; scarcity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896112" y="2898648"/>
            <a:ext cx="30723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i="1" dirty="0">
                <a:solidFill>
                  <a:srgbClr val="E04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"Act in the next 2 hours or it's gone."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896112" y="3218688"/>
            <a:ext cx="30723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5C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down — urgency is the tell, not the deadline.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471416" y="2057400"/>
            <a:ext cx="3584448" cy="1591056"/>
          </a:xfrm>
          <a:prstGeom prst="roundRect">
            <a:avLst>
              <a:gd name="adj" fmla="val 5172"/>
            </a:avLst>
          </a:prstGeom>
          <a:solidFill>
            <a:srgbClr val="F3F5FA"/>
          </a:solidFill>
          <a:ln w="12700">
            <a:solidFill>
              <a:srgbClr val="E2E7F0"/>
            </a:solidFill>
            <a:prstDash val="solid"/>
          </a:ln>
          <a:effectLst>
            <a:outerShdw sx="100000" sy="100000" kx="0" ky="0" algn="bl" rotWithShape="0" blurRad="88900" dist="38100" dir="5400000">
              <a:srgbClr val="9AA3B5">
                <a:alpha val="2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709160" y="2295144"/>
            <a:ext cx="548640" cy="548640"/>
          </a:xfrm>
          <a:prstGeom prst="ellipse">
            <a:avLst/>
          </a:prstGeom>
          <a:solidFill>
            <a:srgbClr val="FBE9E8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2779" y="2448763"/>
            <a:ext cx="241402" cy="24140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385816" y="2295144"/>
            <a:ext cx="24871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450" b="1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Authority</a:t>
            </a:r>
            <a:endParaRPr lang="en-US" sz="1450" dirty="0"/>
          </a:p>
        </p:txBody>
      </p:sp>
      <p:sp>
        <p:nvSpPr>
          <p:cNvPr id="16" name="Text 12"/>
          <p:cNvSpPr/>
          <p:nvPr/>
        </p:nvSpPr>
        <p:spPr>
          <a:xfrm>
            <a:off x="4727448" y="2898648"/>
            <a:ext cx="30723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i="1" dirty="0">
                <a:solidFill>
                  <a:srgbClr val="E04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"This is the CEO. Wire it now."</a:t>
            </a:r>
            <a:endParaRPr lang="en-US" sz="1150" dirty="0"/>
          </a:p>
        </p:txBody>
      </p:sp>
      <p:sp>
        <p:nvSpPr>
          <p:cNvPr id="17" name="Text 13"/>
          <p:cNvSpPr/>
          <p:nvPr/>
        </p:nvSpPr>
        <p:spPr>
          <a:xfrm>
            <a:off x="4727448" y="3218688"/>
            <a:ext cx="30723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5C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out-of-band on a known number; don't reply.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8302752" y="2057400"/>
            <a:ext cx="3584448" cy="1591056"/>
          </a:xfrm>
          <a:prstGeom prst="roundRect">
            <a:avLst>
              <a:gd name="adj" fmla="val 5172"/>
            </a:avLst>
          </a:prstGeom>
          <a:solidFill>
            <a:srgbClr val="F3F5FA"/>
          </a:solidFill>
          <a:ln w="12700">
            <a:solidFill>
              <a:srgbClr val="E2E7F0"/>
            </a:solidFill>
            <a:prstDash val="solid"/>
          </a:ln>
          <a:effectLst>
            <a:outerShdw sx="100000" sy="100000" kx="0" ky="0" algn="bl" rotWithShape="0" blurRad="88900" dist="38100" dir="5400000">
              <a:srgbClr val="9AA3B5">
                <a:alpha val="22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8540496" y="2295144"/>
            <a:ext cx="548640" cy="548640"/>
          </a:xfrm>
          <a:prstGeom prst="ellipse">
            <a:avLst/>
          </a:prstGeom>
          <a:solidFill>
            <a:srgbClr val="FBE9E8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94115" y="2448763"/>
            <a:ext cx="241402" cy="241402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9217152" y="2295144"/>
            <a:ext cx="24871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450" b="1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Fear &amp; intimidation</a:t>
            </a:r>
            <a:endParaRPr lang="en-US" sz="1450" dirty="0"/>
          </a:p>
        </p:txBody>
      </p:sp>
      <p:sp>
        <p:nvSpPr>
          <p:cNvPr id="22" name="Text 17"/>
          <p:cNvSpPr/>
          <p:nvPr/>
        </p:nvSpPr>
        <p:spPr>
          <a:xfrm>
            <a:off x="8558784" y="2898648"/>
            <a:ext cx="30723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i="1" dirty="0">
                <a:solidFill>
                  <a:srgbClr val="E04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"Suspicious login — legal action pending."</a:t>
            </a:r>
            <a:endParaRPr lang="en-US" sz="1150" dirty="0"/>
          </a:p>
        </p:txBody>
      </p:sp>
      <p:sp>
        <p:nvSpPr>
          <p:cNvPr id="23" name="Text 18"/>
          <p:cNvSpPr/>
          <p:nvPr/>
        </p:nvSpPr>
        <p:spPr>
          <a:xfrm>
            <a:off x="8558784" y="3218688"/>
            <a:ext cx="30723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5C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institutions don't threaten you over email.</a:t>
            </a:r>
            <a:endParaRPr lang="en-US" sz="1100" dirty="0"/>
          </a:p>
        </p:txBody>
      </p:sp>
      <p:sp>
        <p:nvSpPr>
          <p:cNvPr id="24" name="Shape 19"/>
          <p:cNvSpPr/>
          <p:nvPr/>
        </p:nvSpPr>
        <p:spPr>
          <a:xfrm>
            <a:off x="640080" y="3867912"/>
            <a:ext cx="3584448" cy="1591056"/>
          </a:xfrm>
          <a:prstGeom prst="roundRect">
            <a:avLst>
              <a:gd name="adj" fmla="val 5172"/>
            </a:avLst>
          </a:prstGeom>
          <a:solidFill>
            <a:srgbClr val="F3F5FA"/>
          </a:solidFill>
          <a:ln w="12700">
            <a:solidFill>
              <a:srgbClr val="E2E7F0"/>
            </a:solidFill>
            <a:prstDash val="solid"/>
          </a:ln>
          <a:effectLst>
            <a:outerShdw sx="100000" sy="100000" kx="0" ky="0" algn="bl" rotWithShape="0" blurRad="88900" dist="38100" dir="5400000">
              <a:srgbClr val="9AA3B5">
                <a:alpha val="22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877824" y="4105656"/>
            <a:ext cx="548640" cy="548640"/>
          </a:xfrm>
          <a:prstGeom prst="ellipse">
            <a:avLst/>
          </a:prstGeom>
          <a:solidFill>
            <a:srgbClr val="FAEFDA"/>
          </a:solidFill>
          <a:ln/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1443" y="4259275"/>
            <a:ext cx="241402" cy="241402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1554480" y="4105656"/>
            <a:ext cx="24871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450" b="1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Greed &amp; curiosity</a:t>
            </a:r>
            <a:endParaRPr lang="en-US" sz="1450" dirty="0"/>
          </a:p>
        </p:txBody>
      </p:sp>
      <p:sp>
        <p:nvSpPr>
          <p:cNvPr id="28" name="Text 22"/>
          <p:cNvSpPr/>
          <p:nvPr/>
        </p:nvSpPr>
        <p:spPr>
          <a:xfrm>
            <a:off x="896112" y="4709160"/>
            <a:ext cx="30723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i="1" dirty="0">
                <a:solidFill>
                  <a:srgbClr val="E04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"You've won a $1,000 gift card."</a:t>
            </a:r>
            <a:endParaRPr lang="en-US" sz="1150" dirty="0"/>
          </a:p>
        </p:txBody>
      </p:sp>
      <p:sp>
        <p:nvSpPr>
          <p:cNvPr id="29" name="Text 23"/>
          <p:cNvSpPr/>
          <p:nvPr/>
        </p:nvSpPr>
        <p:spPr>
          <a:xfrm>
            <a:off x="896112" y="5029200"/>
            <a:ext cx="30723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5C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didn't enter, you didn't win. Don't click.</a:t>
            </a:r>
            <a:endParaRPr lang="en-US" sz="1100" dirty="0"/>
          </a:p>
        </p:txBody>
      </p:sp>
      <p:sp>
        <p:nvSpPr>
          <p:cNvPr id="30" name="Shape 24"/>
          <p:cNvSpPr/>
          <p:nvPr/>
        </p:nvSpPr>
        <p:spPr>
          <a:xfrm>
            <a:off x="4471416" y="3867912"/>
            <a:ext cx="3584448" cy="1591056"/>
          </a:xfrm>
          <a:prstGeom prst="roundRect">
            <a:avLst>
              <a:gd name="adj" fmla="val 5172"/>
            </a:avLst>
          </a:prstGeom>
          <a:solidFill>
            <a:srgbClr val="F3F5FA"/>
          </a:solidFill>
          <a:ln w="12700">
            <a:solidFill>
              <a:srgbClr val="E2E7F0"/>
            </a:solidFill>
            <a:prstDash val="solid"/>
          </a:ln>
          <a:effectLst>
            <a:outerShdw sx="100000" sy="100000" kx="0" ky="0" algn="bl" rotWithShape="0" blurRad="88900" dist="38100" dir="5400000">
              <a:srgbClr val="9AA3B5">
                <a:alpha val="22000"/>
              </a:srgbClr>
            </a:outerShdw>
          </a:effectLst>
        </p:spPr>
      </p:sp>
      <p:sp>
        <p:nvSpPr>
          <p:cNvPr id="31" name="Shape 25"/>
          <p:cNvSpPr/>
          <p:nvPr/>
        </p:nvSpPr>
        <p:spPr>
          <a:xfrm>
            <a:off x="4709160" y="4105656"/>
            <a:ext cx="548640" cy="548640"/>
          </a:xfrm>
          <a:prstGeom prst="ellipse">
            <a:avLst/>
          </a:prstGeom>
          <a:solidFill>
            <a:srgbClr val="DFF1EB"/>
          </a:solidFill>
          <a:ln/>
        </p:spPr>
      </p:sp>
      <p:pic>
        <p:nvPicPr>
          <p:cNvPr id="3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62779" y="4259275"/>
            <a:ext cx="241402" cy="241402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5385816" y="4105656"/>
            <a:ext cx="24871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450" b="1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Familiarity &amp; trust</a:t>
            </a:r>
            <a:endParaRPr lang="en-US" sz="1450" dirty="0"/>
          </a:p>
        </p:txBody>
      </p:sp>
      <p:sp>
        <p:nvSpPr>
          <p:cNvPr id="34" name="Text 27"/>
          <p:cNvSpPr/>
          <p:nvPr/>
        </p:nvSpPr>
        <p:spPr>
          <a:xfrm>
            <a:off x="4727448" y="4709160"/>
            <a:ext cx="30723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i="1" dirty="0">
                <a:solidFill>
                  <a:srgbClr val="E04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"Hey, it's Sam from accounting…"</a:t>
            </a:r>
            <a:endParaRPr lang="en-US" sz="1150" dirty="0"/>
          </a:p>
        </p:txBody>
      </p:sp>
      <p:sp>
        <p:nvSpPr>
          <p:cNvPr id="35" name="Text 28"/>
          <p:cNvSpPr/>
          <p:nvPr/>
        </p:nvSpPr>
        <p:spPr>
          <a:xfrm>
            <a:off x="4727448" y="5029200"/>
            <a:ext cx="30723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5C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 colleague won't mind you verifying.</a:t>
            </a:r>
            <a:endParaRPr lang="en-US" sz="1100" dirty="0"/>
          </a:p>
        </p:txBody>
      </p:sp>
      <p:sp>
        <p:nvSpPr>
          <p:cNvPr id="36" name="Shape 29"/>
          <p:cNvSpPr/>
          <p:nvPr/>
        </p:nvSpPr>
        <p:spPr>
          <a:xfrm>
            <a:off x="8302752" y="3867912"/>
            <a:ext cx="3584448" cy="1591056"/>
          </a:xfrm>
          <a:prstGeom prst="roundRect">
            <a:avLst>
              <a:gd name="adj" fmla="val 5172"/>
            </a:avLst>
          </a:prstGeom>
          <a:solidFill>
            <a:srgbClr val="F3F5FA"/>
          </a:solidFill>
          <a:ln w="12700">
            <a:solidFill>
              <a:srgbClr val="E2E7F0"/>
            </a:solidFill>
            <a:prstDash val="solid"/>
          </a:ln>
          <a:effectLst>
            <a:outerShdw sx="100000" sy="100000" kx="0" ky="0" algn="bl" rotWithShape="0" blurRad="88900" dist="38100" dir="5400000">
              <a:srgbClr val="9AA3B5">
                <a:alpha val="22000"/>
              </a:srgbClr>
            </a:outerShdw>
          </a:effectLst>
        </p:spPr>
      </p:sp>
      <p:sp>
        <p:nvSpPr>
          <p:cNvPr id="37" name="Shape 30"/>
          <p:cNvSpPr/>
          <p:nvPr/>
        </p:nvSpPr>
        <p:spPr>
          <a:xfrm>
            <a:off x="8540496" y="4105656"/>
            <a:ext cx="548640" cy="548640"/>
          </a:xfrm>
          <a:prstGeom prst="ellipse">
            <a:avLst/>
          </a:prstGeom>
          <a:solidFill>
            <a:srgbClr val="DFF1EB"/>
          </a:solidFill>
          <a:ln/>
        </p:spPr>
      </p:sp>
      <p:pic>
        <p:nvPicPr>
          <p:cNvPr id="3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94115" y="4259275"/>
            <a:ext cx="241402" cy="241402"/>
          </a:xfrm>
          <a:prstGeom prst="rect">
            <a:avLst/>
          </a:prstGeom>
        </p:spPr>
      </p:pic>
      <p:sp>
        <p:nvSpPr>
          <p:cNvPr id="39" name="Text 31"/>
          <p:cNvSpPr/>
          <p:nvPr/>
        </p:nvSpPr>
        <p:spPr>
          <a:xfrm>
            <a:off x="9217152" y="4105656"/>
            <a:ext cx="24871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450" b="1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Helpfulness</a:t>
            </a:r>
            <a:endParaRPr lang="en-US" sz="1450" dirty="0"/>
          </a:p>
        </p:txBody>
      </p:sp>
      <p:sp>
        <p:nvSpPr>
          <p:cNvPr id="40" name="Text 32"/>
          <p:cNvSpPr/>
          <p:nvPr/>
        </p:nvSpPr>
        <p:spPr>
          <a:xfrm>
            <a:off x="8558784" y="4709160"/>
            <a:ext cx="30723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i="1" dirty="0">
                <a:solidFill>
                  <a:srgbClr val="E04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"Just confirm your password so I can fix it."</a:t>
            </a:r>
            <a:endParaRPr lang="en-US" sz="1150" dirty="0"/>
          </a:p>
        </p:txBody>
      </p:sp>
      <p:sp>
        <p:nvSpPr>
          <p:cNvPr id="41" name="Text 33"/>
          <p:cNvSpPr/>
          <p:nvPr/>
        </p:nvSpPr>
        <p:spPr>
          <a:xfrm>
            <a:off x="8558784" y="5029200"/>
            <a:ext cx="30723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5C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legitimate IT team ever needs your password.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E15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30936"/>
            <a:ext cx="310896" cy="20117"/>
          </a:xfrm>
          <a:prstGeom prst="rect">
            <a:avLst/>
          </a:prstGeom>
          <a:solidFill>
            <a:srgbClr val="E0463E"/>
          </a:solidFill>
          <a:ln/>
        </p:spPr>
      </p:sp>
      <p:sp>
        <p:nvSpPr>
          <p:cNvPr id="3" name="Text 1"/>
          <p:cNvSpPr/>
          <p:nvPr/>
        </p:nvSpPr>
        <p:spPr>
          <a:xfrm>
            <a:off x="1051560" y="4846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046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 HAPPENS TO EVERYONE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841248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E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examples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444752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5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hypotheticals — sophisticated organizations and tech-savvy people have all been caught.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1965960"/>
            <a:ext cx="5349240" cy="1993392"/>
          </a:xfrm>
          <a:prstGeom prst="roundRect">
            <a:avLst>
              <a:gd name="adj" fmla="val 4128"/>
            </a:avLst>
          </a:prstGeom>
          <a:solidFill>
            <a:srgbClr val="1C2845"/>
          </a:solidFill>
          <a:ln w="12700">
            <a:solidFill>
              <a:srgbClr val="2A365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32688" y="2203704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E04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2013–15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932688" y="2587752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95A3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BEC FRAUD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606040" y="2185416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E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&amp; Facebook — $100M+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2606040" y="2569464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95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scammer registered a company named like a real hardware vendor, then emailed fake invoices to both giants. Employees paid them over ~2 years.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932688" y="3483864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0E8A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Verify any payment or banking change by phone.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263640" y="1965960"/>
            <a:ext cx="5349240" cy="1993392"/>
          </a:xfrm>
          <a:prstGeom prst="roundRect">
            <a:avLst>
              <a:gd name="adj" fmla="val 4128"/>
            </a:avLst>
          </a:prstGeom>
          <a:solidFill>
            <a:srgbClr val="1C2845"/>
          </a:solidFill>
          <a:ln w="12700">
            <a:solidFill>
              <a:srgbClr val="2A365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56248" y="2203704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E04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2016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6556248" y="2587752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95A3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SPEAR PHISHING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8229600" y="2185416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E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campaign email leaked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8229600" y="2569464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95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senior official got a fake Google "reset your password" alert. The link harvested credentials; tens of thousands of emails were exposed.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556248" y="3483864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0E8A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A reset link in email is the classic hook.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40080" y="4197096"/>
            <a:ext cx="5349240" cy="1993392"/>
          </a:xfrm>
          <a:prstGeom prst="roundRect">
            <a:avLst>
              <a:gd name="adj" fmla="val 4128"/>
            </a:avLst>
          </a:prstGeom>
          <a:solidFill>
            <a:srgbClr val="1C2845"/>
          </a:solidFill>
          <a:ln w="12700">
            <a:solidFill>
              <a:srgbClr val="2A365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32688" y="44348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E04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2020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932688" y="4818888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95A3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VISHING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606040" y="441655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E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Twitter takeover</a:t>
            </a:r>
            <a:endParaRPr lang="en-US" sz="1550" dirty="0"/>
          </a:p>
        </p:txBody>
      </p:sp>
      <p:sp>
        <p:nvSpPr>
          <p:cNvPr id="22" name="Text 20"/>
          <p:cNvSpPr/>
          <p:nvPr/>
        </p:nvSpPr>
        <p:spPr>
          <a:xfrm>
            <a:off x="2606040" y="480060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95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Attackers phoned staff posing as IT, walked them to a fake portal, stole credentials, and hijacked verified accounts for a crypto scam.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932688" y="5715000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0E8A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Phishing isn't only email — calls count too.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263640" y="4197096"/>
            <a:ext cx="5349240" cy="1993392"/>
          </a:xfrm>
          <a:prstGeom prst="roundRect">
            <a:avLst>
              <a:gd name="adj" fmla="val 4128"/>
            </a:avLst>
          </a:prstGeom>
          <a:solidFill>
            <a:srgbClr val="1C2845"/>
          </a:solidFill>
          <a:ln w="12700">
            <a:solidFill>
              <a:srgbClr val="2A365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56248" y="44348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E04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Ongoing</a:t>
            </a:r>
            <a:endParaRPr lang="en-US" sz="2100" dirty="0"/>
          </a:p>
        </p:txBody>
      </p:sp>
      <p:sp>
        <p:nvSpPr>
          <p:cNvPr id="26" name="Text 24"/>
          <p:cNvSpPr/>
          <p:nvPr/>
        </p:nvSpPr>
        <p:spPr>
          <a:xfrm>
            <a:off x="6556248" y="4818888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95A3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SMISHING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8229600" y="441655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E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"missed delivery" text</a:t>
            </a:r>
            <a:endParaRPr lang="en-US" sz="1550" dirty="0"/>
          </a:p>
        </p:txBody>
      </p:sp>
      <p:sp>
        <p:nvSpPr>
          <p:cNvPr id="28" name="Text 26"/>
          <p:cNvSpPr/>
          <p:nvPr/>
        </p:nvSpPr>
        <p:spPr>
          <a:xfrm>
            <a:off x="8229600" y="480060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95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SMS claims a parcel needs a small redelivery fee via a link. The tiny fee is bait; the real prize is your card and personal data.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6556248" y="5715000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0E8A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Couriers don't charge redelivery by random text.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30936"/>
            <a:ext cx="310896" cy="20117"/>
          </a:xfrm>
          <a:prstGeom prst="rect">
            <a:avLst/>
          </a:prstGeom>
          <a:solidFill>
            <a:srgbClr val="0E8A72"/>
          </a:solidFill>
          <a:ln/>
        </p:spPr>
      </p:sp>
      <p:sp>
        <p:nvSpPr>
          <p:cNvPr id="3" name="Text 1"/>
          <p:cNvSpPr/>
          <p:nvPr/>
        </p:nvSpPr>
        <p:spPr>
          <a:xfrm>
            <a:off x="1051560" y="4846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E8A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YOUR DEFENSE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841248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practices &amp; quick tips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444752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C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don't have to be an expert. A handful of habits blocks the overwhelming majority of phishing.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2011680"/>
            <a:ext cx="5349240" cy="1024128"/>
          </a:xfrm>
          <a:prstGeom prst="roundRect">
            <a:avLst>
              <a:gd name="adj" fmla="val 7143"/>
            </a:avLst>
          </a:prstGeom>
          <a:solidFill>
            <a:srgbClr val="F3F5FA"/>
          </a:solidFill>
          <a:ln w="12700">
            <a:solidFill>
              <a:srgbClr val="E2E7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77824" y="2304288"/>
            <a:ext cx="420624" cy="420624"/>
          </a:xfrm>
          <a:prstGeom prst="ellipse">
            <a:avLst/>
          </a:prstGeom>
          <a:solidFill>
            <a:srgbClr val="DFF1EB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8408" y="2404872"/>
            <a:ext cx="219456" cy="21945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481328" y="2176272"/>
            <a:ext cx="4297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when you feel pressured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1481328" y="2487168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5C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Urgency is the attacker's tool. A minute of doubt costs nothing; a click can cost everything.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263640" y="2011680"/>
            <a:ext cx="5349240" cy="1024128"/>
          </a:xfrm>
          <a:prstGeom prst="roundRect">
            <a:avLst>
              <a:gd name="adj" fmla="val 7143"/>
            </a:avLst>
          </a:prstGeom>
          <a:solidFill>
            <a:srgbClr val="F3F5FA"/>
          </a:solidFill>
          <a:ln w="12700">
            <a:solidFill>
              <a:srgbClr val="E2E7F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501384" y="2304288"/>
            <a:ext cx="420624" cy="420624"/>
          </a:xfrm>
          <a:prstGeom prst="ellipse">
            <a:avLst/>
          </a:prstGeom>
          <a:solidFill>
            <a:srgbClr val="DFF1EB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1968" y="2404872"/>
            <a:ext cx="219456" cy="21945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104888" y="2176272"/>
            <a:ext cx="4297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 the sender and hover links</a:t>
            </a:r>
            <a:endParaRPr lang="en-US" sz="1350" dirty="0"/>
          </a:p>
        </p:txBody>
      </p:sp>
      <p:sp>
        <p:nvSpPr>
          <p:cNvPr id="15" name="Text 11"/>
          <p:cNvSpPr/>
          <p:nvPr/>
        </p:nvSpPr>
        <p:spPr>
          <a:xfrm>
            <a:off x="7104888" y="2487168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5C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the real address; read the domain before the first slash. On mobile, long-press to preview.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40080" y="3182112"/>
            <a:ext cx="5349240" cy="1024128"/>
          </a:xfrm>
          <a:prstGeom prst="roundRect">
            <a:avLst>
              <a:gd name="adj" fmla="val 7143"/>
            </a:avLst>
          </a:prstGeom>
          <a:solidFill>
            <a:srgbClr val="F3F5FA"/>
          </a:solidFill>
          <a:ln w="12700">
            <a:solidFill>
              <a:srgbClr val="E2E7F0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877824" y="3474720"/>
            <a:ext cx="420624" cy="420624"/>
          </a:xfrm>
          <a:prstGeom prst="ellipse">
            <a:avLst/>
          </a:prstGeom>
          <a:solidFill>
            <a:srgbClr val="DFF1EB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408" y="3575304"/>
            <a:ext cx="219456" cy="219456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481328" y="3346704"/>
            <a:ext cx="4297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enter credentials from a link</a:t>
            </a:r>
            <a:endParaRPr lang="en-US" sz="1350" dirty="0"/>
          </a:p>
        </p:txBody>
      </p:sp>
      <p:sp>
        <p:nvSpPr>
          <p:cNvPr id="20" name="Text 15"/>
          <p:cNvSpPr/>
          <p:nvPr/>
        </p:nvSpPr>
        <p:spPr>
          <a:xfrm>
            <a:off x="1481328" y="365760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5C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the site yourself via a bookmark or typed address, then log in.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6263640" y="3182112"/>
            <a:ext cx="5349240" cy="1024128"/>
          </a:xfrm>
          <a:prstGeom prst="roundRect">
            <a:avLst>
              <a:gd name="adj" fmla="val 7143"/>
            </a:avLst>
          </a:prstGeom>
          <a:solidFill>
            <a:srgbClr val="F3F5FA"/>
          </a:solidFill>
          <a:ln w="12700">
            <a:solidFill>
              <a:srgbClr val="E2E7F0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6501384" y="3474720"/>
            <a:ext cx="420624" cy="420624"/>
          </a:xfrm>
          <a:prstGeom prst="ellipse">
            <a:avLst/>
          </a:prstGeom>
          <a:solidFill>
            <a:srgbClr val="DFF1EB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1968" y="3575304"/>
            <a:ext cx="219456" cy="219456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7104888" y="3346704"/>
            <a:ext cx="4297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on multi-factor authentication</a:t>
            </a:r>
            <a:endParaRPr lang="en-US" sz="1350" dirty="0"/>
          </a:p>
        </p:txBody>
      </p:sp>
      <p:sp>
        <p:nvSpPr>
          <p:cNvPr id="25" name="Text 19"/>
          <p:cNvSpPr/>
          <p:nvPr/>
        </p:nvSpPr>
        <p:spPr>
          <a:xfrm>
            <a:off x="7104888" y="365760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5C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a stolen password is blocked by MFA. Prefer an app or hardware key over SMS.</a:t>
            </a:r>
            <a:endParaRPr lang="en-US" sz="1100" dirty="0"/>
          </a:p>
        </p:txBody>
      </p:sp>
      <p:sp>
        <p:nvSpPr>
          <p:cNvPr id="26" name="Shape 20"/>
          <p:cNvSpPr/>
          <p:nvPr/>
        </p:nvSpPr>
        <p:spPr>
          <a:xfrm>
            <a:off x="640080" y="4352544"/>
            <a:ext cx="5349240" cy="1024128"/>
          </a:xfrm>
          <a:prstGeom prst="roundRect">
            <a:avLst>
              <a:gd name="adj" fmla="val 7143"/>
            </a:avLst>
          </a:prstGeom>
          <a:solidFill>
            <a:srgbClr val="F3F5FA"/>
          </a:solidFill>
          <a:ln w="12700">
            <a:solidFill>
              <a:srgbClr val="E2E7F0"/>
            </a:solidFill>
            <a:prstDash val="solid"/>
          </a:ln>
        </p:spPr>
      </p:sp>
      <p:sp>
        <p:nvSpPr>
          <p:cNvPr id="27" name="Shape 21"/>
          <p:cNvSpPr/>
          <p:nvPr/>
        </p:nvSpPr>
        <p:spPr>
          <a:xfrm>
            <a:off x="877824" y="4645152"/>
            <a:ext cx="420624" cy="420624"/>
          </a:xfrm>
          <a:prstGeom prst="ellipse">
            <a:avLst/>
          </a:prstGeom>
          <a:solidFill>
            <a:srgbClr val="DFF1EB"/>
          </a:solidFill>
          <a:ln/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8408" y="4745736"/>
            <a:ext cx="219456" cy="219456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1481328" y="4517136"/>
            <a:ext cx="4297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money &amp; data requests out-of-band</a:t>
            </a:r>
            <a:endParaRPr lang="en-US" sz="1350" dirty="0"/>
          </a:p>
        </p:txBody>
      </p:sp>
      <p:sp>
        <p:nvSpPr>
          <p:cNvPr id="30" name="Text 23"/>
          <p:cNvSpPr/>
          <p:nvPr/>
        </p:nvSpPr>
        <p:spPr>
          <a:xfrm>
            <a:off x="1481328" y="4828032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5C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any wire, invoice change, or credential request by calling a known number.</a:t>
            </a:r>
            <a:endParaRPr lang="en-US" sz="1100" dirty="0"/>
          </a:p>
        </p:txBody>
      </p:sp>
      <p:sp>
        <p:nvSpPr>
          <p:cNvPr id="31" name="Shape 24"/>
          <p:cNvSpPr/>
          <p:nvPr/>
        </p:nvSpPr>
        <p:spPr>
          <a:xfrm>
            <a:off x="6263640" y="4352544"/>
            <a:ext cx="5349240" cy="1024128"/>
          </a:xfrm>
          <a:prstGeom prst="roundRect">
            <a:avLst>
              <a:gd name="adj" fmla="val 7143"/>
            </a:avLst>
          </a:prstGeom>
          <a:solidFill>
            <a:srgbClr val="F3F5FA"/>
          </a:solidFill>
          <a:ln w="12700">
            <a:solidFill>
              <a:srgbClr val="E2E7F0"/>
            </a:solidFill>
            <a:prstDash val="solid"/>
          </a:ln>
        </p:spPr>
      </p:sp>
      <p:sp>
        <p:nvSpPr>
          <p:cNvPr id="32" name="Shape 25"/>
          <p:cNvSpPr/>
          <p:nvPr/>
        </p:nvSpPr>
        <p:spPr>
          <a:xfrm>
            <a:off x="6501384" y="4645152"/>
            <a:ext cx="420624" cy="420624"/>
          </a:xfrm>
          <a:prstGeom prst="ellipse">
            <a:avLst/>
          </a:prstGeom>
          <a:solidFill>
            <a:srgbClr val="DFF1EB"/>
          </a:solidFill>
          <a:ln/>
        </p:spPr>
      </p:sp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01968" y="4745736"/>
            <a:ext cx="219456" cy="219456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7104888" y="4517136"/>
            <a:ext cx="4297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software and browsers updated</a:t>
            </a:r>
            <a:endParaRPr lang="en-US" sz="1350" dirty="0"/>
          </a:p>
        </p:txBody>
      </p:sp>
      <p:sp>
        <p:nvSpPr>
          <p:cNvPr id="35" name="Text 27"/>
          <p:cNvSpPr/>
          <p:nvPr/>
        </p:nvSpPr>
        <p:spPr>
          <a:xfrm>
            <a:off x="7104888" y="4828032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5C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Updates close the holes malicious links and attachments try to exploit.</a:t>
            </a:r>
            <a:endParaRPr lang="en-US" sz="1100" dirty="0"/>
          </a:p>
        </p:txBody>
      </p:sp>
      <p:sp>
        <p:nvSpPr>
          <p:cNvPr id="36" name="Shape 28"/>
          <p:cNvSpPr/>
          <p:nvPr/>
        </p:nvSpPr>
        <p:spPr>
          <a:xfrm>
            <a:off x="640080" y="5522976"/>
            <a:ext cx="5349240" cy="1024128"/>
          </a:xfrm>
          <a:prstGeom prst="roundRect">
            <a:avLst>
              <a:gd name="adj" fmla="val 7143"/>
            </a:avLst>
          </a:prstGeom>
          <a:solidFill>
            <a:srgbClr val="F3F5FA"/>
          </a:solidFill>
          <a:ln w="12700">
            <a:solidFill>
              <a:srgbClr val="E2E7F0"/>
            </a:solidFill>
            <a:prstDash val="solid"/>
          </a:ln>
        </p:spPr>
      </p:sp>
      <p:sp>
        <p:nvSpPr>
          <p:cNvPr id="37" name="Shape 29"/>
          <p:cNvSpPr/>
          <p:nvPr/>
        </p:nvSpPr>
        <p:spPr>
          <a:xfrm>
            <a:off x="877824" y="5815584"/>
            <a:ext cx="420624" cy="420624"/>
          </a:xfrm>
          <a:prstGeom prst="ellipse">
            <a:avLst/>
          </a:prstGeom>
          <a:solidFill>
            <a:srgbClr val="DFF1EB"/>
          </a:solidFill>
          <a:ln/>
        </p:spPr>
      </p:sp>
      <p:pic>
        <p:nvPicPr>
          <p:cNvPr id="3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78408" y="5916168"/>
            <a:ext cx="219456" cy="219456"/>
          </a:xfrm>
          <a:prstGeom prst="rect">
            <a:avLst/>
          </a:prstGeom>
        </p:spPr>
      </p:pic>
      <p:sp>
        <p:nvSpPr>
          <p:cNvPr id="39" name="Text 30"/>
          <p:cNvSpPr/>
          <p:nvPr/>
        </p:nvSpPr>
        <p:spPr>
          <a:xfrm>
            <a:off x="1481328" y="5687568"/>
            <a:ext cx="4297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 password manager</a:t>
            </a:r>
            <a:endParaRPr lang="en-US" sz="1350" dirty="0"/>
          </a:p>
        </p:txBody>
      </p:sp>
      <p:sp>
        <p:nvSpPr>
          <p:cNvPr id="40" name="Text 31"/>
          <p:cNvSpPr/>
          <p:nvPr/>
        </p:nvSpPr>
        <p:spPr>
          <a:xfrm>
            <a:off x="1481328" y="5998464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5C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only autofills on the genuine domain — so it refuses to fill on a look-alike.</a:t>
            </a:r>
            <a:endParaRPr lang="en-US" sz="1100" dirty="0"/>
          </a:p>
        </p:txBody>
      </p:sp>
      <p:sp>
        <p:nvSpPr>
          <p:cNvPr id="41" name="Shape 32"/>
          <p:cNvSpPr/>
          <p:nvPr/>
        </p:nvSpPr>
        <p:spPr>
          <a:xfrm>
            <a:off x="6263640" y="5522976"/>
            <a:ext cx="5349240" cy="1024128"/>
          </a:xfrm>
          <a:prstGeom prst="roundRect">
            <a:avLst>
              <a:gd name="adj" fmla="val 7143"/>
            </a:avLst>
          </a:prstGeom>
          <a:solidFill>
            <a:srgbClr val="F3F5FA"/>
          </a:solidFill>
          <a:ln w="12700">
            <a:solidFill>
              <a:srgbClr val="E2E7F0"/>
            </a:solidFill>
            <a:prstDash val="solid"/>
          </a:ln>
        </p:spPr>
      </p:sp>
      <p:sp>
        <p:nvSpPr>
          <p:cNvPr id="42" name="Shape 33"/>
          <p:cNvSpPr/>
          <p:nvPr/>
        </p:nvSpPr>
        <p:spPr>
          <a:xfrm>
            <a:off x="6501384" y="5815584"/>
            <a:ext cx="420624" cy="420624"/>
          </a:xfrm>
          <a:prstGeom prst="ellipse">
            <a:avLst/>
          </a:prstGeom>
          <a:solidFill>
            <a:srgbClr val="DFF1EB"/>
          </a:solidFill>
          <a:ln/>
        </p:spPr>
      </p:sp>
      <p:pic>
        <p:nvPicPr>
          <p:cNvPr id="4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01968" y="5916168"/>
            <a:ext cx="219456" cy="219456"/>
          </a:xfrm>
          <a:prstGeom prst="rect">
            <a:avLst/>
          </a:prstGeom>
        </p:spPr>
      </p:pic>
      <p:sp>
        <p:nvSpPr>
          <p:cNvPr id="44" name="Text 34"/>
          <p:cNvSpPr/>
          <p:nvPr/>
        </p:nvSpPr>
        <p:spPr>
          <a:xfrm>
            <a:off x="7104888" y="5687568"/>
            <a:ext cx="4297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it, don't just delete it</a:t>
            </a:r>
            <a:endParaRPr lang="en-US" sz="1350" dirty="0"/>
          </a:p>
        </p:txBody>
      </p:sp>
      <p:sp>
        <p:nvSpPr>
          <p:cNvPr id="45" name="Text 35"/>
          <p:cNvSpPr/>
          <p:nvPr/>
        </p:nvSpPr>
        <p:spPr>
          <a:xfrm>
            <a:off x="7104888" y="5998464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5C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 suspicious mail to IT/security. One report can protect everyone.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30936"/>
            <a:ext cx="310896" cy="20117"/>
          </a:xfrm>
          <a:prstGeom prst="rect">
            <a:avLst/>
          </a:prstGeom>
          <a:solidFill>
            <a:srgbClr val="E0463E"/>
          </a:solidFill>
          <a:ln/>
        </p:spPr>
      </p:sp>
      <p:sp>
        <p:nvSpPr>
          <p:cNvPr id="3" name="Text 1"/>
          <p:cNvSpPr/>
          <p:nvPr/>
        </p:nvSpPr>
        <p:spPr>
          <a:xfrm>
            <a:off x="1051560" y="4846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046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 YOURSELF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841248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 or Legit?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444752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C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the call on each message, then check the answer key. The interactive version has a full scored quiz.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40080" y="2057400"/>
            <a:ext cx="3584448" cy="2743200"/>
          </a:xfrm>
          <a:prstGeom prst="roundRect">
            <a:avLst>
              <a:gd name="adj" fmla="val 3000"/>
            </a:avLst>
          </a:prstGeom>
          <a:solidFill>
            <a:srgbClr val="F3F5FA"/>
          </a:solidFill>
          <a:ln w="12700">
            <a:solidFill>
              <a:srgbClr val="E2E7F0"/>
            </a:solidFill>
            <a:prstDash val="solid"/>
          </a:ln>
          <a:effectLst>
            <a:outerShdw sx="100000" sy="100000" kx="0" ky="0" algn="bl" rotWithShape="0" blurRad="88900" dist="38100" dir="5400000">
              <a:srgbClr val="9AA3B5">
                <a:alpha val="2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77824" y="2295144"/>
            <a:ext cx="310896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E2E7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24128" y="2423160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5C66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EMAIL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24128" y="2660904"/>
            <a:ext cx="2816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66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From: service@paypa1-secure.com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1024128" y="2953512"/>
            <a:ext cx="28163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your account in 24 hours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77824" y="3867912"/>
            <a:ext cx="3108960" cy="411480"/>
          </a:xfrm>
          <a:prstGeom prst="roundRect">
            <a:avLst>
              <a:gd name="adj" fmla="val 13333"/>
            </a:avLst>
          </a:prstGeom>
          <a:solidFill>
            <a:srgbClr val="FBE9E8"/>
          </a:solidFill>
          <a:ln/>
        </p:spPr>
      </p:sp>
      <p:sp>
        <p:nvSpPr>
          <p:cNvPr id="12" name="Text 10"/>
          <p:cNvSpPr/>
          <p:nvPr/>
        </p:nvSpPr>
        <p:spPr>
          <a:xfrm>
            <a:off x="877824" y="3867912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04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🎣  PHISH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14400" y="4343400"/>
            <a:ext cx="30358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5C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Look-alike domain + urgency + generic greeting.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471416" y="2057400"/>
            <a:ext cx="3584448" cy="2743200"/>
          </a:xfrm>
          <a:prstGeom prst="roundRect">
            <a:avLst>
              <a:gd name="adj" fmla="val 3000"/>
            </a:avLst>
          </a:prstGeom>
          <a:solidFill>
            <a:srgbClr val="F3F5FA"/>
          </a:solidFill>
          <a:ln w="12700">
            <a:solidFill>
              <a:srgbClr val="E2E7F0"/>
            </a:solidFill>
            <a:prstDash val="solid"/>
          </a:ln>
          <a:effectLst>
            <a:outerShdw sx="100000" sy="100000" kx="0" ky="0" algn="bl" rotWithShape="0" blurRad="88900" dist="38100" dir="5400000">
              <a:srgbClr val="9AA3B5">
                <a:alpha val="2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09160" y="2295144"/>
            <a:ext cx="310896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E2E7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55464" y="2423160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5C66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SMS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855464" y="2660904"/>
            <a:ext cx="2816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66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From: +1 (308) 555-0147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855464" y="2953512"/>
            <a:ext cx="28163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Parcel held — pay £1.99 redelivery fee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4709160" y="3867912"/>
            <a:ext cx="3108960" cy="411480"/>
          </a:xfrm>
          <a:prstGeom prst="roundRect">
            <a:avLst>
              <a:gd name="adj" fmla="val 13333"/>
            </a:avLst>
          </a:prstGeom>
          <a:solidFill>
            <a:srgbClr val="FBE9E8"/>
          </a:solidFill>
          <a:ln/>
        </p:spPr>
      </p:sp>
      <p:sp>
        <p:nvSpPr>
          <p:cNvPr id="20" name="Text 18"/>
          <p:cNvSpPr/>
          <p:nvPr/>
        </p:nvSpPr>
        <p:spPr>
          <a:xfrm>
            <a:off x="4709160" y="3867912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04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🎣  PHISH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745736" y="4343400"/>
            <a:ext cx="30358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5C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Smishing: couriers don't text random fees.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8302752" y="2057400"/>
            <a:ext cx="3584448" cy="2743200"/>
          </a:xfrm>
          <a:prstGeom prst="roundRect">
            <a:avLst>
              <a:gd name="adj" fmla="val 3000"/>
            </a:avLst>
          </a:prstGeom>
          <a:solidFill>
            <a:srgbClr val="F3F5FA"/>
          </a:solidFill>
          <a:ln w="12700">
            <a:solidFill>
              <a:srgbClr val="E2E7F0"/>
            </a:solidFill>
            <a:prstDash val="solid"/>
          </a:ln>
          <a:effectLst>
            <a:outerShdw sx="100000" sy="100000" kx="0" ky="0" algn="bl" rotWithShape="0" blurRad="88900" dist="38100" dir="5400000">
              <a:srgbClr val="9AA3B5">
                <a:alpha val="2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8540496" y="2295144"/>
            <a:ext cx="310896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E2E7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686800" y="2423160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5C66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EMAIL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686800" y="2660904"/>
            <a:ext cx="2816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66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From: it-helpdesk@yourcompany.com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8686800" y="2953512"/>
            <a:ext cx="28163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Scheduled maintenance Saturday 10pm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8540496" y="3867912"/>
            <a:ext cx="3108960" cy="411480"/>
          </a:xfrm>
          <a:prstGeom prst="roundRect">
            <a:avLst>
              <a:gd name="adj" fmla="val 13333"/>
            </a:avLst>
          </a:prstGeom>
          <a:solidFill>
            <a:srgbClr val="DFF1EB"/>
          </a:solidFill>
          <a:ln/>
        </p:spPr>
      </p:sp>
      <p:sp>
        <p:nvSpPr>
          <p:cNvPr id="28" name="Text 26"/>
          <p:cNvSpPr/>
          <p:nvPr/>
        </p:nvSpPr>
        <p:spPr>
          <a:xfrm>
            <a:off x="8540496" y="3867912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8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LEGIT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8577072" y="4343400"/>
            <a:ext cx="30358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5C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domain, no links, no credential ask.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40080" y="507492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C77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of thumb: when in doubt, don't click — verify through a channel you already trust.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E15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10000"/>
          </a:blip>
          <a:stretch>
            <a:fillRect/>
          </a:stretch>
        </p:blipFill>
        <p:spPr>
          <a:xfrm>
            <a:off x="9326880" y="4023360"/>
            <a:ext cx="3291840" cy="329184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822960" y="1088136"/>
            <a:ext cx="310896" cy="20117"/>
          </a:xfrm>
          <a:prstGeom prst="rect">
            <a:avLst/>
          </a:prstGeom>
          <a:solidFill>
            <a:srgbClr val="0E8A72"/>
          </a:solidFill>
          <a:ln/>
        </p:spPr>
      </p:sp>
      <p:sp>
        <p:nvSpPr>
          <p:cNvPr id="4" name="Text 1"/>
          <p:cNvSpPr/>
          <p:nvPr/>
        </p:nvSpPr>
        <p:spPr>
          <a:xfrm>
            <a:off x="1234440" y="9418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E8A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REMEMBER THIS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777240" y="141732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EE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Verify, </a:t>
            </a:r>
            <a:pPr indent="0" marL="0">
              <a:buNone/>
            </a:pPr>
            <a:r>
              <a:rPr lang="en-US" sz="6600" b="1" dirty="0">
                <a:solidFill>
                  <a:srgbClr val="0E8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trust.</a:t>
            </a:r>
            <a:endParaRPr lang="en-US" sz="6600" dirty="0"/>
          </a:p>
        </p:txBody>
      </p:sp>
      <p:sp>
        <p:nvSpPr>
          <p:cNvPr id="6" name="Text 3"/>
          <p:cNvSpPr/>
          <p:nvPr/>
        </p:nvSpPr>
        <p:spPr>
          <a:xfrm>
            <a:off x="822960" y="2788920"/>
            <a:ext cx="8138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95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works on people, not firewalls — which means you are the control that matters most. When something pushes you to act fast, slow down, check the sender and the link, and confirm through a channel you already trust.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822960" y="42976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04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Pause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822960" y="47548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95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you feel pressure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3566160" y="42976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04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3566160" y="47548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95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sender, link, and domain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6309360" y="42976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04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6309360" y="47548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95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money &amp; data out-of-band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9052560" y="42976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04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9052560" y="47548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95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just delete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822960" y="6172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00" kern="0" dirty="0">
                <a:solidFill>
                  <a:srgbClr val="95A3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PHISHWISE · Security Awareness Training  —  When in doubt, don't click.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Phishing Awareness Training</dc:title>
  <dc:subject>PptxGenJS Presentation</dc:subject>
  <dc:creator>PhishWise Security Awareness</dc:creator>
  <cp:lastModifiedBy>PhishWise Security Awareness</cp:lastModifiedBy>
  <cp:revision>1</cp:revision>
  <dcterms:created xsi:type="dcterms:W3CDTF">2026-06-13T14:36:23Z</dcterms:created>
  <dcterms:modified xsi:type="dcterms:W3CDTF">2026-06-13T14:36:23Z</dcterms:modified>
</cp:coreProperties>
</file>